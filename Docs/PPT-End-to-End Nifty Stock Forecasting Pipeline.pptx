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10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550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9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E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DEE2E5"/>
          </a:solidFill>
          <a:ln/>
        </p:spPr>
      </p:sp>
      <p:sp>
        <p:nvSpPr>
          <p:cNvPr id="3" name="Shape 1"/>
          <p:cNvSpPr/>
          <p:nvPr/>
        </p:nvSpPr>
        <p:spPr>
          <a:xfrm>
            <a:off x="-2103120" y="4572000"/>
            <a:ext cx="4754880" cy="4754880"/>
          </a:xfrm>
          <a:prstGeom prst="ellipse">
            <a:avLst/>
          </a:prstGeom>
          <a:solidFill>
            <a:srgbClr val="E1E4E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457200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5" name="Image 0" descr="/home/claude/proj/icons/trending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88" y="615208"/>
            <a:ext cx="342351" cy="3423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ENGINEERING  ·  MACHINE LEARNING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94360" y="1600200"/>
            <a:ext cx="9875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200"/>
              </a:lnSpc>
            </a:pPr>
            <a:r>
              <a:rPr lang="en-US" sz="38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Nifty Stock Forecasting Pipeline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production-oriented pipeline delivering automated, explainable next-day price forecasts for HDFC stock using Azure-native services, Databricks, and reproducible model evaluation.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840480"/>
            <a:ext cx="2743200" cy="0"/>
          </a:xfrm>
          <a:prstGeom prst="line">
            <a:avLst/>
          </a:prstGeom>
          <a:noFill/>
          <a:ln w="12700">
            <a:solidFill>
              <a:srgbClr val="DADE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9502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Cloud-Native End-to-End Data &amp; ML Pipeline using Medallion Architecture on Azure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4480560"/>
            <a:ext cx="10881360" cy="0"/>
          </a:xfrm>
          <a:prstGeom prst="line">
            <a:avLst/>
          </a:prstGeom>
          <a:noFill/>
          <a:ln w="12700">
            <a:solidFill>
              <a:srgbClr val="DADE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4663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MEMBERS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452360" y="4663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" y="498348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5" name="Image 1" descr="/home/claude/proj/icons/user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52" y="5075652"/>
            <a:ext cx="199705" cy="19970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52144" y="49560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Asrar G. Sheikh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152144" y="521208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260241225004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40080" y="555040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9" name="Image 2" descr="/home/claude/proj/icons/user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252" y="5642580"/>
            <a:ext cx="199705" cy="19970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52144" y="552297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Vrushabh K. Urkudkar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52144" y="5779008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PRN: 260241225055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452360" y="498348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23" name="Image 3" descr="/home/claude/proj/icons/graduation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4532" y="5075652"/>
            <a:ext cx="199705" cy="19970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964424" y="49560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Shantanu Pathak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964424" y="52120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was undertaken.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5" name="Image 0" descr="/home/claude/proj/icons/alert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2088855"/>
            <a:ext cx="266273" cy="2662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43584" y="19385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and Inconsistent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243584" y="225856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stock analysis is time-consuming, inconsistent, and hard to reproduce.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807208"/>
            <a:ext cx="10881360" cy="0"/>
          </a:xfrm>
          <a:prstGeom prst="line">
            <a:avLst/>
          </a:prstGeom>
          <a:noFill/>
          <a:ln w="9525">
            <a:solidFill>
              <a:srgbClr val="DADE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990088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0" name="Image 1" descr="/home/claude/proj/icons/wrench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35" y="3112983"/>
            <a:ext cx="266273" cy="26627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43584" y="29626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Automated Pipeline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243584" y="3282696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automated pipeline existed to ingest, validate, and forecast HDFC stock data on a daily cadence.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831336"/>
            <a:ext cx="10881360" cy="0"/>
          </a:xfrm>
          <a:prstGeom prst="line">
            <a:avLst/>
          </a:prstGeom>
          <a:noFill/>
          <a:ln w="9525">
            <a:solidFill>
              <a:srgbClr val="DADEE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4014216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5" name="Image 2" descr="/home/claude/proj/icons/flask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35" y="4137111"/>
            <a:ext cx="266273" cy="26627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43584" y="39867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Ad-Hoc Notebooks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243584" y="430682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relied on ad-hoc notebooks which caused duplicated effort, stale data, and inconsistent model versions.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4855464"/>
            <a:ext cx="10881360" cy="0"/>
          </a:xfrm>
          <a:prstGeom prst="line">
            <a:avLst/>
          </a:prstGeom>
          <a:noFill/>
          <a:ln w="9525">
            <a:solidFill>
              <a:srgbClr val="DADEE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5038344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20" name="Image 3" descr="/home/claude/proj/icons/target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35" y="5161239"/>
            <a:ext cx="266273" cy="26627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43584" y="501091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243584" y="533095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repeatable, production-style workflow that ingests, cleans, features, forecasts, and stores results daily.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STOCK PRICE FORECASTING PIPELINE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real-world decision this pipeline supports.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5" name="Image 0" descr="/home/claude/proj/icons/briefcas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20738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920240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 and analysts need timely, reliable next-day price signals to support intraday decisions and position management. Manual model runs do not scale, introduce errors, and result in stale forecasts.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17320" y="288036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B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pipeline automates ingestion → cleaning → feature engineering → forecasting to deliver a fresh, auditable, explainable next-day forecast every day.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977640"/>
            <a:ext cx="10881360" cy="0"/>
          </a:xfrm>
          <a:prstGeom prst="line">
            <a:avLst/>
          </a:prstGeom>
          <a:noFill/>
          <a:ln w="12700">
            <a:solidFill>
              <a:srgbClr val="DADE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4453502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50800" dist="25400" dir="5400000" algn="bl" rotWithShape="0">
              <a:srgbClr val="9AA3AB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44348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063240" y="4823460"/>
            <a:ext cx="256032" cy="0"/>
          </a:xfrm>
          <a:prstGeom prst="line">
            <a:avLst/>
          </a:prstGeom>
          <a:noFill/>
          <a:ln w="25400">
            <a:solidFill>
              <a:srgbClr val="3B6EA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319272" y="443484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50800" dist="25400" dir="5400000" algn="bl" rotWithShape="0">
              <a:srgbClr val="9AA3AB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19272" y="44348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833872" y="4823460"/>
            <a:ext cx="256032" cy="0"/>
          </a:xfrm>
          <a:prstGeom prst="line">
            <a:avLst/>
          </a:prstGeom>
          <a:noFill/>
          <a:ln w="25400">
            <a:solidFill>
              <a:srgbClr val="3B6EA5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089904" y="443484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50800" dist="25400" dir="5400000" algn="bl" rotWithShape="0">
              <a:srgbClr val="9AA3AB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89904" y="44348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604504" y="4823460"/>
            <a:ext cx="256032" cy="0"/>
          </a:xfrm>
          <a:prstGeom prst="line">
            <a:avLst/>
          </a:prstGeom>
          <a:noFill/>
          <a:ln w="25400">
            <a:solidFill>
              <a:srgbClr val="3B6EA5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860536" y="443484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B333B"/>
          </a:solidFill>
          <a:ln w="12700">
            <a:solidFill>
              <a:srgbClr val="DADEE2"/>
            </a:solidFill>
            <a:prstDash val="solid"/>
          </a:ln>
          <a:effectLst>
            <a:outerShdw blurRad="50800" dist="25400" dir="5400000" algn="bl" rotWithShape="0">
              <a:srgbClr val="9AA3AB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860536" y="443484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Forecasting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STOCK PRICE FORECASTING PIPELINE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2B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implemented a cloud-native medallion pipeline on Azure to operationalize HDFC stock forecasting with both deep learning and statistical baselines, reproducible runs, and automated evaluation.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084832" cy="37947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76200" dist="25400" dir="5400000" algn="bl" rotWithShape="0">
              <a:srgbClr val="9AA3AB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C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81635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7" name="Image 0" descr="/home/claude/proj/icons/cloud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2937053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47472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3913632"/>
            <a:ext cx="171907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scheduled stock data ingestion (daily).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2779776" y="2286000"/>
            <a:ext cx="2084832" cy="37947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76200" dist="25400" dir="5400000" algn="bl" rotWithShape="0">
              <a:srgbClr val="9AA3AB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962656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C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962656" y="281635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3" name="Image 1" descr="/home/claude/proj/icons/filter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3357" y="2937053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62656" y="347472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Transform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962656" y="3913632"/>
            <a:ext cx="171907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Standardize, validate, and deduplicate raw data.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5010912" y="2286000"/>
            <a:ext cx="2084832" cy="37947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76200" dist="25400" dir="5400000" algn="bl" rotWithShape="0">
              <a:srgbClr val="9AA3AB">
                <a:alpha val="2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193792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C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193792" y="281635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9" name="Image 2" descr="/home/claude/proj/icons/boxes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4493" y="2937053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93792" y="347472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193792" y="3913632"/>
            <a:ext cx="171907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processing using Databricks and ADLS Gen2.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7242048" y="2286000"/>
            <a:ext cx="2084832" cy="37947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76200" dist="25400" dir="5400000" algn="bl" rotWithShape="0">
              <a:srgbClr val="9AA3AB">
                <a:alpha val="2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424928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C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7424928" y="281635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25" name="Image 3" descr="/home/claude/proj/icons/sparkles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5629" y="2937053"/>
            <a:ext cx="261518" cy="26151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424928" y="347472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Generation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7424928" y="3913632"/>
            <a:ext cx="171907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features and rolling statistics.</a:t>
            </a:r>
            <a:endParaRPr lang="en-US" sz="1080" dirty="0"/>
          </a:p>
        </p:txBody>
      </p:sp>
      <p:sp>
        <p:nvSpPr>
          <p:cNvPr id="28" name="Shape 22"/>
          <p:cNvSpPr/>
          <p:nvPr/>
        </p:nvSpPr>
        <p:spPr>
          <a:xfrm>
            <a:off x="9473184" y="2286000"/>
            <a:ext cx="2084832" cy="3794760"/>
          </a:xfrm>
          <a:prstGeom prst="roundRect">
            <a:avLst>
              <a:gd name="adj" fmla="val 4386"/>
            </a:avLst>
          </a:prstGeom>
          <a:solidFill>
            <a:srgbClr val="2B333B"/>
          </a:solidFill>
          <a:ln w="12700">
            <a:solidFill>
              <a:srgbClr val="DADEE2"/>
            </a:solidFill>
            <a:prstDash val="solid"/>
          </a:ln>
          <a:effectLst>
            <a:outerShdw blurRad="76200" dist="25400" dir="5400000" algn="bl" rotWithShape="0">
              <a:srgbClr val="9AA3AB">
                <a:alpha val="22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9656064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B0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9656064" y="281635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3A4552"/>
          </a:solidFill>
          <a:ln w="12700">
            <a:solidFill>
              <a:srgbClr val="3A4552"/>
            </a:solidFill>
            <a:prstDash val="solid"/>
          </a:ln>
        </p:spPr>
      </p:sp>
      <p:pic>
        <p:nvPicPr>
          <p:cNvPr id="31" name="Image 4" descr="/home/claude/proj/icons/targe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6765" y="2937053"/>
            <a:ext cx="261518" cy="26151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56064" y="3474720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9656064" y="3913632"/>
            <a:ext cx="171907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next-day price using LSTM and Prophet; compare and store results.</a:t>
            </a:r>
            <a:endParaRPr lang="en-US" sz="1080" dirty="0"/>
          </a:p>
        </p:txBody>
      </p:sp>
      <p:sp>
        <p:nvSpPr>
          <p:cNvPr id="34" name="Text 27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STOCK PRICE FORECASTING PIPELINE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Details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below are illustrative placeholders — replace with your actual dataset statistics.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5295" y="19659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63500" dist="25400" dir="5400000" algn="bl" rotWithShape="0">
              <a:srgbClr val="9AA3AB">
                <a:alpha val="2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768096" y="218541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6" name="Image 0" descr="/home/claude/proj/icons/tabl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29514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75234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3500+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68096" y="32095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73552" y="19659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63500" dist="25400" dir="5400000" algn="bl" rotWithShape="0">
              <a:srgbClr val="9AA3AB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93008" y="218541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1" name="Image 1" descr="/home/claude/proj/icons/layers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2736" y="229514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275234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493008" y="32095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998464" y="19659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63500" dist="25400" dir="5400000" algn="bl" rotWithShape="0">
              <a:srgbClr val="9AA3AB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218541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6" name="Image 2" descr="/home/claude/proj/icons/clock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7648" y="229514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75234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6217920" y="32095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723376" y="1965960"/>
            <a:ext cx="254203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63500" dist="25400" dir="5400000" algn="bl" rotWithShape="0">
              <a:srgbClr val="9AA3AB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42832" y="218541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21" name="Image 3" descr="/home/claude/proj/icons/cloud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2295144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42832" y="275234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Yahoo Finance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8942832" y="32095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8640" y="38862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48640" y="4187952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· Open · High · Low · Close · Adj Close · Volume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48640" y="46634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Range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" y="4965192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2016-01-01 to 2021-12-31 (example historic window)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5440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548640" y="57424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STOCK PRICE FORECASTING PIPELINE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(EDA)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findings — replace with conclusions from your actual EDA.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5" name="Image 0" descr="/home/claude/proj/icons/search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57" y="2080077"/>
            <a:ext cx="247254" cy="247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9476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14800" y="1947672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~0.4% missing dates/rows; handled by forward-fill and removal of orphan rows in the Silver layer.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60904"/>
            <a:ext cx="10881360" cy="0"/>
          </a:xfrm>
          <a:prstGeom prst="line">
            <a:avLst/>
          </a:prstGeom>
          <a:noFill/>
          <a:ln w="9525">
            <a:solidFill>
              <a:srgbClr val="DADE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80720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0" name="Image 1" descr="/home/claude/proj/icons/chart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57" y="2921325"/>
            <a:ext cx="247254" cy="2472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788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Closing Price Trend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114800" y="2788920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upward trend with periodic corrections; evidence of multi-year growth and short-term volatility.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502152"/>
            <a:ext cx="10881360" cy="0"/>
          </a:xfrm>
          <a:prstGeom prst="line">
            <a:avLst/>
          </a:prstGeom>
          <a:noFill/>
          <a:ln w="9525">
            <a:solidFill>
              <a:srgbClr val="DADEE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48640" y="3648456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5" name="Image 2" descr="/home/claude/proj/icons/compare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57" y="3762573"/>
            <a:ext cx="247254" cy="2472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363016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Returns Distribution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114800" y="3630168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tails with occasional large negative/positive returns — outlier days flagged for separate review.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343400"/>
            <a:ext cx="10881360" cy="0"/>
          </a:xfrm>
          <a:prstGeom prst="line">
            <a:avLst/>
          </a:prstGeom>
          <a:noFill/>
          <a:ln w="9525">
            <a:solidFill>
              <a:srgbClr val="DADEE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48640" y="4489704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20" name="Image 3" descr="/home/claude/proj/icons/table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757" y="4603821"/>
            <a:ext cx="247254" cy="24725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447141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OHLC Correlation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114800" y="4471416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Open/High/Low/Close correlation &gt; 0.98, expected for price series; Volume weakly correlated with return magnitude.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5184648"/>
            <a:ext cx="10881360" cy="0"/>
          </a:xfrm>
          <a:prstGeom prst="line">
            <a:avLst/>
          </a:prstGeom>
          <a:noFill/>
          <a:ln w="9525">
            <a:solidFill>
              <a:srgbClr val="DADEE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48640" y="5330952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25" name="Image 4" descr="/home/claude/proj/icons/alert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757" y="5445069"/>
            <a:ext cx="247254" cy="24725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88720" y="531266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114800" y="5312664"/>
            <a:ext cx="7223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Identifiable high-volatility episodes aligned with market events; treated with winsorization for stable features.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STOCK PRICE FORECASTING PIPELINE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Azure-native services and frameworks behind each pipeline stage.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50800" dist="25400" dir="5400000" algn="bl" rotWithShape="0">
              <a:srgbClr val="9AA3A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1214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6" name="Image 0" descr="/home/claude/proj/icons/workflow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23113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084832"/>
            <a:ext cx="24963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Apache Airflow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670048"/>
            <a:ext cx="30540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orchestration — DAG scheduling, retries.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187952" y="192024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50800" dist="25400" dir="5400000" algn="bl" rotWithShape="0">
              <a:srgbClr val="9AA3A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9120" y="21214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1" name="Image 1" descr="/home/claude/proj/icons/cloud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231136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65192" y="2084832"/>
            <a:ext cx="24963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Data Factory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389120" y="2670048"/>
            <a:ext cx="30540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scheduling &amp; data movement between services.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7827264" y="192024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50800" dist="25400" dir="5400000" algn="bl" rotWithShape="0">
              <a:srgbClr val="9AA3AB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28432" y="21214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6" name="Image 2" descr="/home/claude/proj/icons/cpu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2231136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04504" y="2084832"/>
            <a:ext cx="24963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Databricks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028432" y="2670048"/>
            <a:ext cx="30540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data processing and model training.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352044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50800" dist="25400" dir="5400000" algn="bl" rotWithShape="0">
              <a:srgbClr val="9AA3AB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7216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21" name="Image 3" descr="/home/claude/proj/icons/database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3831336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685032"/>
            <a:ext cx="24963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Data Lake Storage Gen2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9808" y="4270248"/>
            <a:ext cx="30540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/ Silver / Gold medallion storage.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187952" y="352044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50800" dist="25400" dir="5400000" algn="bl" rotWithShape="0">
              <a:srgbClr val="9AA3AB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389120" y="37216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26" name="Image 4" descr="/home/claude/proj/icons/code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8848" y="3831336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65192" y="3685032"/>
            <a:ext cx="24963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PySpark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389120" y="4270248"/>
            <a:ext cx="30540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data transformation and feature engineering.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7827264" y="352044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50800" dist="25400" dir="5400000" algn="bl" rotWithShape="0">
              <a:srgbClr val="9AA3AB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028432" y="37216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31" name="Image 5" descr="/home/claude/proj/icons/brain_blu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3831336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604504" y="3685032"/>
            <a:ext cx="24963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LSTM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028432" y="4270248"/>
            <a:ext cx="30540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time-series forecasting (sequence modelling).</a:t>
            </a:r>
            <a:endParaRPr lang="en-US" sz="1080" dirty="0"/>
          </a:p>
        </p:txBody>
      </p:sp>
      <p:sp>
        <p:nvSpPr>
          <p:cNvPr id="34" name="Shape 26"/>
          <p:cNvSpPr/>
          <p:nvPr/>
        </p:nvSpPr>
        <p:spPr>
          <a:xfrm>
            <a:off x="548640" y="5120640"/>
            <a:ext cx="3456432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50800" dist="25400" dir="5400000" algn="bl" rotWithShape="0">
              <a:srgbClr val="9AA3AB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49808" y="53218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36" name="Image 6" descr="/home/claude/proj/icons/chart_blu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" y="5431536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325880" y="5285232"/>
            <a:ext cx="24963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Prophet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749808" y="5870448"/>
            <a:ext cx="30540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8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statistical forecasting baseline.</a:t>
            </a:r>
            <a:endParaRPr lang="en-US" sz="1080" dirty="0"/>
          </a:p>
        </p:txBody>
      </p:sp>
      <p:sp>
        <p:nvSpPr>
          <p:cNvPr id="39" name="Text 30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STOCK PRICE FORECASTING PIPELINE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Technologies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Reasoning, advantages, and limitations behind each core choice.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0789920" cy="42062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Data Lake + ADF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Azure scalability for storage and movement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Pay-as-you-go, managed infra, seamless with Azure services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lock-in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Databricks + PySpark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Distributed processing for time-series ETL and training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Spark transforms, scalable clusters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cost/overhead for small datasets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Airflow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Flexible, programmable DAG-based orchestration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 monitoring and retry semantics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overhead to maintain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Captures long-term temporal dependencies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non-linear patterns effectively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more data and tuning; slower to train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interpretable baseline for trend and seasonality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to missing data; quick to train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accurate on complex non-linear patterns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STOCK PRICE FORECASTING PIPELINE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— Medallion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3456432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76200" dist="25400" dir="5400000" algn="bl" rotWithShape="0">
              <a:srgbClr val="9AA3AB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41248" y="225856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5" name="Image 0" descr="/home/claude/proj/icons/databas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311" y="2394631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971800"/>
            <a:ext cx="2907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41248" y="3383280"/>
            <a:ext cx="2907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41248" y="3749040"/>
            <a:ext cx="2871216" cy="0"/>
          </a:xfrm>
          <a:prstGeom prst="line">
            <a:avLst/>
          </a:prstGeom>
          <a:noFill/>
          <a:ln w="12700">
            <a:solidFill>
              <a:srgbClr val="DADEE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" y="3904488"/>
            <a:ext cx="287121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HDFC stock data ingested as-is.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05072" y="3589020"/>
            <a:ext cx="182880" cy="0"/>
          </a:xfrm>
          <a:prstGeom prst="line">
            <a:avLst/>
          </a:prstGeom>
          <a:noFill/>
          <a:ln w="25400">
            <a:solidFill>
              <a:srgbClr val="3B6EA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187952" y="1965960"/>
            <a:ext cx="3456432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76200" dist="25400" dir="5400000" algn="bl" rotWithShape="0">
              <a:srgbClr val="9AA3AB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0560" y="225856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3" name="Image 1" descr="/home/claude/proj/icons/filter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6623" y="2394631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2971800"/>
            <a:ext cx="2907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480560" y="3383280"/>
            <a:ext cx="2907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480560" y="3749040"/>
            <a:ext cx="2871216" cy="0"/>
          </a:xfrm>
          <a:prstGeom prst="line">
            <a:avLst/>
          </a:prstGeom>
          <a:noFill/>
          <a:ln w="12700">
            <a:solidFill>
              <a:srgbClr val="DADEE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480560" y="3904488"/>
            <a:ext cx="287121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standardized data with deduplication.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644384" y="3589020"/>
            <a:ext cx="182880" cy="0"/>
          </a:xfrm>
          <a:prstGeom prst="line">
            <a:avLst/>
          </a:prstGeom>
          <a:noFill/>
          <a:ln w="25400">
            <a:solidFill>
              <a:srgbClr val="3B6EA5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7827264" y="1965960"/>
            <a:ext cx="3456432" cy="3246120"/>
          </a:xfrm>
          <a:prstGeom prst="roundRect">
            <a:avLst>
              <a:gd name="adj" fmla="val 2817"/>
            </a:avLst>
          </a:prstGeom>
          <a:solidFill>
            <a:srgbClr val="2B333B"/>
          </a:solidFill>
          <a:ln w="12700">
            <a:solidFill>
              <a:srgbClr val="DADEE2"/>
            </a:solidFill>
            <a:prstDash val="solid"/>
          </a:ln>
          <a:effectLst>
            <a:outerShdw blurRad="76200" dist="25400" dir="5400000" algn="bl" rotWithShape="0">
              <a:srgbClr val="9AA3AB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19872" y="225856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3A4552"/>
          </a:solidFill>
          <a:ln w="12700">
            <a:solidFill>
              <a:srgbClr val="3A4552"/>
            </a:solidFill>
            <a:prstDash val="solid"/>
          </a:ln>
        </p:spPr>
      </p:sp>
      <p:pic>
        <p:nvPicPr>
          <p:cNvPr id="21" name="Image 2" descr="/home/claude/proj/icons/sparkle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5935" y="2394631"/>
            <a:ext cx="294803" cy="29480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19872" y="2971800"/>
            <a:ext cx="2907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119872" y="3383280"/>
            <a:ext cx="2907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Data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119872" y="3749040"/>
            <a:ext cx="2871216" cy="0"/>
          </a:xfrm>
          <a:prstGeom prst="line">
            <a:avLst/>
          </a:prstGeom>
          <a:noFill/>
          <a:ln w="12700">
            <a:solidFill>
              <a:srgbClr val="48525C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119872" y="3904488"/>
            <a:ext cx="287121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features, forecasts, and evaluation metrics.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548640" y="5486400"/>
            <a:ext cx="10881360" cy="0"/>
          </a:xfrm>
          <a:prstGeom prst="line">
            <a:avLst/>
          </a:prstGeom>
          <a:noFill/>
          <a:ln w="12700">
            <a:solidFill>
              <a:srgbClr val="DADEE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548640" y="5623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Azure Data Lake Storage Gen2  ·  Processing: Databricks  ·  Orchestration: Airflow + Azure Data Factory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STOCK PRICE FORECASTING PIPELINE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Flow (Daily)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50800" dist="25400" dir="5400000" algn="bl" rotWithShape="0">
              <a:srgbClr val="9AA3AB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94944" y="1536192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5" name="Image 0" descr="/home/claude/proj/icons/clock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61" y="1650309"/>
            <a:ext cx="247254" cy="247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149961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Trigger ADF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98448" y="178308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 triggers the Azure Data Factory pipeline on a daily schedule.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89320" y="2130552"/>
            <a:ext cx="0" cy="128016"/>
          </a:xfrm>
          <a:prstGeom prst="line">
            <a:avLst/>
          </a:prstGeom>
          <a:noFill/>
          <a:ln w="19050">
            <a:solidFill>
              <a:srgbClr val="3B6EA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48640" y="225856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50800" dist="25400" dir="5400000" algn="bl" rotWithShape="0">
              <a:srgbClr val="9AA3AB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94944" y="237744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1" name="Image 1" descr="/home/claude/proj/icons/download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061" y="2491557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98448" y="234086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Ingest Bronze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98448" y="262432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HDFC stock data is fetched and landed in the Bronze layer.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89320" y="2971800"/>
            <a:ext cx="0" cy="128016"/>
          </a:xfrm>
          <a:prstGeom prst="line">
            <a:avLst/>
          </a:prstGeom>
          <a:noFill/>
          <a:ln w="19050">
            <a:solidFill>
              <a:srgbClr val="3B6EA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548640" y="3099816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50800" dist="25400" dir="5400000" algn="bl" rotWithShape="0">
              <a:srgbClr val="9AA3AB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4944" y="321868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7" name="Image 2" descr="/home/claude/proj/icons/filter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061" y="3332805"/>
            <a:ext cx="247254" cy="24725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98448" y="318211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Clean to Silver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298448" y="346557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cleaned, standardized, and deduplicated into the Silver layer.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989320" y="3813048"/>
            <a:ext cx="0" cy="128016"/>
          </a:xfrm>
          <a:prstGeom prst="line">
            <a:avLst/>
          </a:prstGeom>
          <a:noFill/>
          <a:ln w="19050">
            <a:solidFill>
              <a:srgbClr val="3B6EA5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548640" y="3941064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50800" dist="25400" dir="5400000" algn="bl" rotWithShape="0">
              <a:srgbClr val="9AA3AB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94944" y="4059936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23" name="Image 3" descr="/home/claude/proj/icons/sparkles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061" y="4174053"/>
            <a:ext cx="247254" cy="24725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98448" y="402336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Feature &amp; Train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1298448" y="4306824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features are engineered; LSTM and Prophet models are trained.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5989320" y="4654296"/>
            <a:ext cx="0" cy="128016"/>
          </a:xfrm>
          <a:prstGeom prst="line">
            <a:avLst/>
          </a:prstGeom>
          <a:noFill/>
          <a:ln w="19050">
            <a:solidFill>
              <a:srgbClr val="3B6EA5"/>
            </a:solidFill>
            <a:prstDash val="solid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548640" y="4782312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2B333B"/>
          </a:solidFill>
          <a:ln w="12700">
            <a:solidFill>
              <a:srgbClr val="DADEE2"/>
            </a:solidFill>
            <a:prstDash val="solid"/>
          </a:ln>
          <a:effectLst>
            <a:outerShdw blurRad="50800" dist="25400" dir="5400000" algn="bl" rotWithShape="0">
              <a:srgbClr val="9AA3AB">
                <a:alpha val="2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94944" y="4901184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3A4552"/>
          </a:solidFill>
          <a:ln w="12700">
            <a:solidFill>
              <a:srgbClr val="3A4552"/>
            </a:solidFill>
            <a:prstDash val="solid"/>
          </a:ln>
        </p:spPr>
      </p:sp>
      <p:pic>
        <p:nvPicPr>
          <p:cNvPr id="29" name="Image 4" descr="/home/claude/proj/icons/ch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061" y="5015301"/>
            <a:ext cx="247254" cy="24725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98448" y="486460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Gold Forecasts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1298448" y="5148072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forecasts and evaluation metrics are written to the Gold layer.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STOCK PRICE FORECASTING PIPELINE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LSTM vs Prophet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marked [ ] are illustrative — replace with your actual evaluation results.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94256"/>
              </p:ext>
            </p:extLst>
          </p:nvPr>
        </p:nvGraphicFramePr>
        <p:xfrm>
          <a:off x="548640" y="1920240"/>
          <a:ext cx="10881360" cy="33702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(RNN sequence model)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additive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Captures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Non-linear temporal patterns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+ seasonality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historical data needed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B3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well with less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77240" y="594360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3E8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Gold layer output (hdfc_forecast.csv):  2026-08-08, HDFCBANK.NS  →  prophet_forecast: 896.94  ·  lstm_forecast: 748.75  ·  model_used: prophet_lstm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STOCK PRICE FORECASTING PIPELINE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Screenshots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Airflow DAG on a daily schedule triggers the Azure Data Factory pipeline, which invokes Databricks notebooks for each medallion stage, with final forecasts written to the readable Gold layer.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63500" dist="25400" dir="5400000" algn="bl" rotWithShape="0">
              <a:srgbClr val="9AA3AB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874520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Airflow DAG Run</a:t>
            </a:r>
            <a:endParaRPr lang="en-US" sz="1250" dirty="0"/>
          </a:p>
        </p:txBody>
      </p:sp>
      <p:pic>
        <p:nvPicPr>
          <p:cNvPr id="6" name="Image 0" descr="/home/claude/proj/screenshots/airflow_dag_run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3232" y="2185416"/>
            <a:ext cx="5020056" cy="1307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3575304"/>
            <a:ext cx="5020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trigger_hdfc_adf_pipeline — start → run_pl_hdfc_master (ADF) → end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080760" y="1783080"/>
            <a:ext cx="5349240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63500" dist="25400" dir="5400000" algn="bl" rotWithShape="0">
              <a:srgbClr val="9AA3AB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45352" y="1874520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Databricks Notebooks</a:t>
            </a:r>
            <a:endParaRPr lang="en-US" sz="1250" dirty="0"/>
          </a:p>
        </p:txBody>
      </p:sp>
      <p:pic>
        <p:nvPicPr>
          <p:cNvPr id="10" name="Image 1" descr="/home/claude/proj/screenshots/databricks_notebooks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45352" y="2185416"/>
            <a:ext cx="5020056" cy="1307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45352" y="3575304"/>
            <a:ext cx="5020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01_fetch_hdfc_bronze → 02_bronze_to_silver → 03_silver_to_gold_train_forecast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48640" y="4087368"/>
            <a:ext cx="5349240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63500" dist="25400" dir="5400000" algn="bl" rotWithShape="0">
              <a:srgbClr val="9AA3AB">
                <a:alpha val="2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1323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ADLS Storage Layout</a:t>
            </a:r>
            <a:endParaRPr lang="en-US" sz="1250" dirty="0"/>
          </a:p>
        </p:txBody>
      </p:sp>
      <p:pic>
        <p:nvPicPr>
          <p:cNvPr id="14" name="Image 2" descr="/home/claude/proj/screenshots/adls_storage.jpe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13232" y="4489704"/>
            <a:ext cx="5020056" cy="1307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232" y="5879592"/>
            <a:ext cx="5020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/ silver / gold / readable containers in stockproject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080760" y="4087368"/>
            <a:ext cx="5349240" cy="2176272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ADEE2"/>
            </a:solidFill>
            <a:prstDash val="solid"/>
          </a:ln>
          <a:effectLst>
            <a:outerShdw blurRad="63500" dist="25400" dir="5400000" algn="bl" rotWithShape="0">
              <a:srgbClr val="9AA3AB">
                <a:alpha val="2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6245352" y="4178808"/>
            <a:ext cx="5020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Layer Forecast Output</a:t>
            </a:r>
            <a:endParaRPr lang="en-US" sz="1250" dirty="0"/>
          </a:p>
        </p:txBody>
      </p:sp>
      <p:pic>
        <p:nvPicPr>
          <p:cNvPr id="18" name="Image 3" descr="/home/claude/proj/screenshots/gold_forecast_output.jpe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245352" y="4489704"/>
            <a:ext cx="5020056" cy="1307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45352" y="5879592"/>
            <a:ext cx="5020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readable/gold/hdfc_forecast.csv — Prophet + LSTM outputs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457200" y="6491679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STOCK PRICE FORECASTING PIPELINE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7E9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4206240"/>
            <a:ext cx="5029200" cy="5029200"/>
          </a:xfrm>
          <a:prstGeom prst="ellipse">
            <a:avLst/>
          </a:prstGeom>
          <a:solidFill>
            <a:srgbClr val="DEE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Assurance &amp; Testing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that keep the pipeline reliable in production.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6" name="Image 0" descr="/home/claude/proj/icons/shield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1966692"/>
            <a:ext cx="199705" cy="1997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0704" y="18470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246120" y="18562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count, null, and schema checks before promoting Bronze → Silver.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548640" y="244144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0" name="Image 1" descr="/home/claude/proj/icons/wrench_bl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2533620"/>
            <a:ext cx="199705" cy="1997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60704" y="24140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Handling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246120" y="2423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with retry logic wrapped around every Airflow task.</a:t>
            </a:r>
            <a:endParaRPr lang="en-US" sz="1030" dirty="0"/>
          </a:p>
        </p:txBody>
      </p:sp>
      <p:sp>
        <p:nvSpPr>
          <p:cNvPr id="13" name="Shape 9"/>
          <p:cNvSpPr/>
          <p:nvPr/>
        </p:nvSpPr>
        <p:spPr>
          <a:xfrm>
            <a:off x="548640" y="3008376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4" name="Image 2" descr="/home/claude/proj/icons/clock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2" y="3100548"/>
            <a:ext cx="199705" cy="19970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60704" y="298094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Watermark Checkpointing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3246120" y="299008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duplicate or partial writes if a run fails midway.</a:t>
            </a:r>
            <a:endParaRPr lang="en-US" sz="1030" dirty="0"/>
          </a:p>
        </p:txBody>
      </p:sp>
      <p:sp>
        <p:nvSpPr>
          <p:cNvPr id="17" name="Shape 12"/>
          <p:cNvSpPr/>
          <p:nvPr/>
        </p:nvSpPr>
        <p:spPr>
          <a:xfrm>
            <a:off x="548640" y="3575304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18" name="Image 3" descr="/home/claude/proj/icons/flask_blu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2" y="3667476"/>
            <a:ext cx="199705" cy="19970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60704" y="354787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3246120" y="355701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functions validated for expected output shape and values.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548640" y="414223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DCE6EF"/>
          </a:solidFill>
          <a:ln w="12700">
            <a:solidFill>
              <a:srgbClr val="DCE6EF"/>
            </a:solidFill>
            <a:prstDash val="solid"/>
          </a:ln>
        </p:spPr>
      </p:sp>
      <p:pic>
        <p:nvPicPr>
          <p:cNvPr id="22" name="Image 4" descr="/home/claude/proj/icons/search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12" y="4234404"/>
            <a:ext cx="199705" cy="19970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60704" y="41148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B3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3246120" y="412394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pipeline stage logs progress and errors for traceability and debugging.</a:t>
            </a:r>
            <a:endParaRPr lang="en-US" sz="1030" dirty="0"/>
          </a:p>
        </p:txBody>
      </p:sp>
      <p:sp>
        <p:nvSpPr>
          <p:cNvPr id="26" name="Text 19"/>
          <p:cNvSpPr/>
          <p:nvPr/>
        </p:nvSpPr>
        <p:spPr>
          <a:xfrm>
            <a:off x="6556248" y="2020824"/>
            <a:ext cx="4672584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133856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1212</Words>
  <Application>Microsoft Office PowerPoint</Application>
  <PresentationFormat>Widescreen</PresentationFormat>
  <Paragraphs>216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Vrushabh Urkudkar</cp:lastModifiedBy>
  <cp:revision>7</cp:revision>
  <dcterms:created xsi:type="dcterms:W3CDTF">2026-08-09T15:02:14Z</dcterms:created>
  <dcterms:modified xsi:type="dcterms:W3CDTF">2026-08-10T07:18:00Z</dcterms:modified>
</cp:coreProperties>
</file>